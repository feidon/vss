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1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73152" cy="6858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5989320"/>
            <a:ext cx="1463040" cy="73152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2011680"/>
            <a:ext cx="10972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Scheduling System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108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Reference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22960" y="3840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Diagrams for the parts that text alone can't carry.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</a:t>
            </a:r>
            <a:pPr indent="0" marL="0">
              <a:buNone/>
            </a:pPr>
            <a:r>
              <a:rPr lang="en-US" sz="1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Cases</a:t>
            </a:r>
            <a:pPr indent="0" marL="0">
              <a:buNone/>
            </a:pPr>
            <a:r>
              <a:rPr lang="en-US" sz="1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pPr indent="0" marL="0">
              <a:buNone/>
            </a:pPr>
            <a:r>
              <a:rPr lang="en-US" sz="1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Workflows</a:t>
            </a:r>
            <a:pPr indent="0" marL="0">
              <a:buNone/>
            </a:pPr>
            <a:r>
              <a:rPr lang="en-US" sz="1300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Types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Map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page → its API operations → domain logic → the entities it touches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1691640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C0322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1691640" cy="274320"/>
          </a:xfrm>
          <a:prstGeom prst="rect">
            <a:avLst/>
          </a:prstGeom>
          <a:solidFill>
            <a:srgbClr val="C03221"/>
          </a:solidFill>
          <a:ln w="12700">
            <a:solidFill>
              <a:srgbClr val="C0322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1335024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29768" y="1655064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List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29768" y="2020824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2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29768" y="2304288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 · Create · Delete · Auto-generate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48256" y="212140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240280" y="1325880"/>
            <a:ext cx="3337560" cy="15910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350008" y="1362456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OPERATIONS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350008" y="1623060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423160" y="162306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/services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350008" y="1888236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423160" y="188823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/services/{id}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2350008" y="2153412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423160" y="2153412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/services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2350008" y="2418588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423160" y="241858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DELETE  /services/{id}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2350008" y="2683764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423160" y="268376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/schedules/generate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14416" y="212140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806440" y="1325880"/>
            <a:ext cx="2926080" cy="1591056"/>
          </a:xfrm>
          <a:prstGeom prst="rect">
            <a:avLst/>
          </a:prstGeom>
          <a:solidFill>
            <a:srgbClr val="E0F2F1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16168" y="1362456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5971032" y="1655064"/>
            <a:ext cx="2633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read (list + expanded detail)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Cascade delete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Auto-gen runs BFS + timetable + 6 conflict checks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769096" y="2121408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8961120" y="1325880"/>
            <a:ext cx="2880360" cy="1591056"/>
          </a:xfrm>
          <a:prstGeom prst="rect">
            <a:avLst/>
          </a:prstGeom>
          <a:solidFill>
            <a:srgbClr val="FFF6D6"/>
          </a:solidFill>
          <a:ln w="19050">
            <a:solidFill>
              <a:srgbClr val="CFA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70848" y="1362456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TOUCHED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9098280" y="1691640"/>
            <a:ext cx="2606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· Vehicle · Block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320040" y="3054096"/>
            <a:ext cx="1691640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C0322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20040" y="3054096"/>
            <a:ext cx="1691640" cy="274320"/>
          </a:xfrm>
          <a:prstGeom prst="rect">
            <a:avLst/>
          </a:prstGeom>
          <a:solidFill>
            <a:srgbClr val="C03221"/>
          </a:solidFill>
          <a:ln w="12700">
            <a:solidFill>
              <a:srgbClr val="C0322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063240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29768" y="3383280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Editor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429768" y="3749040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2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/schedule/:id/edit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29768" y="4032504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one service's route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2048256" y="3849624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2240280" y="3054096"/>
            <a:ext cx="3337560" cy="15910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2350008" y="3090672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OPERATIONS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350008" y="3749040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423160" y="374904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/services/{id}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2350008" y="4014216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423160" y="4014216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/services/{id}/route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614416" y="3849624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46" name="Shape 44"/>
          <p:cNvSpPr/>
          <p:nvPr/>
        </p:nvSpPr>
        <p:spPr>
          <a:xfrm>
            <a:off x="5806440" y="3054096"/>
            <a:ext cx="2926080" cy="1591056"/>
          </a:xfrm>
          <a:prstGeom prst="rect">
            <a:avLst/>
          </a:prstGeom>
          <a:solidFill>
            <a:srgbClr val="E0F2F1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916168" y="3090672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5971032" y="3383280"/>
            <a:ext cx="2633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connectivity check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timetable (dwell + traversal)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 6 conflict types  →  409 on failure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8769096" y="3849624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8961120" y="3054096"/>
            <a:ext cx="2880360" cy="1591056"/>
          </a:xfrm>
          <a:prstGeom prst="rect">
            <a:avLst/>
          </a:prstGeom>
          <a:solidFill>
            <a:srgbClr val="FFF6D6"/>
          </a:solidFill>
          <a:ln w="19050">
            <a:solidFill>
              <a:srgbClr val="CFA30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9070848" y="3090672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TOUCHED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9098280" y="3419856"/>
            <a:ext cx="2606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· Block · NodeConnection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320040" y="4782312"/>
            <a:ext cx="1691640" cy="1591056"/>
          </a:xfrm>
          <a:prstGeom prst="rect">
            <a:avLst/>
          </a:prstGeom>
          <a:solidFill>
            <a:srgbClr val="FFFFFF"/>
          </a:solidFill>
          <a:ln w="25400">
            <a:solidFill>
              <a:srgbClr val="C0322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320040" y="4782312"/>
            <a:ext cx="1691640" cy="274320"/>
          </a:xfrm>
          <a:prstGeom prst="rect">
            <a:avLst/>
          </a:prstGeom>
          <a:solidFill>
            <a:srgbClr val="C03221"/>
          </a:solidFill>
          <a:ln w="12700">
            <a:solidFill>
              <a:srgbClr val="C0322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429768" y="4791456"/>
            <a:ext cx="147218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429768" y="5111496"/>
            <a:ext cx="1472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429768" y="5477256"/>
            <a:ext cx="1472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0322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/config</a:t>
            </a:r>
            <a:endParaRPr lang="en-US" sz="1000" dirty="0"/>
          </a:p>
        </p:txBody>
      </p:sp>
      <p:sp>
        <p:nvSpPr>
          <p:cNvPr id="58" name="Text 56"/>
          <p:cNvSpPr/>
          <p:nvPr/>
        </p:nvSpPr>
        <p:spPr>
          <a:xfrm>
            <a:off x="429768" y="5760720"/>
            <a:ext cx="147218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table + Vehicle list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2048256" y="557784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0" name="Shape 58"/>
          <p:cNvSpPr/>
          <p:nvPr/>
        </p:nvSpPr>
        <p:spPr>
          <a:xfrm>
            <a:off x="2240280" y="4782312"/>
            <a:ext cx="3337560" cy="1591056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2350008" y="4818888"/>
            <a:ext cx="31181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5B5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OPERATIONS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350008" y="5344668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2423160" y="5344668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/blocks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2350008" y="5609844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423160" y="5609844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PATCH  /blocks/{id}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350008" y="5875020"/>
            <a:ext cx="3118104" cy="228600"/>
          </a:xfrm>
          <a:prstGeom prst="rect">
            <a:avLst/>
          </a:prstGeom>
          <a:solidFill>
            <a:srgbClr val="5B5FAC"/>
          </a:solidFill>
          <a:ln w="12700">
            <a:solidFill>
              <a:srgbClr val="5B5FAC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2423160" y="5875020"/>
            <a:ext cx="297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/vehicles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5614416" y="557784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69" name="Shape 67"/>
          <p:cNvSpPr/>
          <p:nvPr/>
        </p:nvSpPr>
        <p:spPr>
          <a:xfrm>
            <a:off x="5806440" y="4782312"/>
            <a:ext cx="2926080" cy="1591056"/>
          </a:xfrm>
          <a:prstGeom prst="rect">
            <a:avLst/>
          </a:prstGeom>
          <a:solidFill>
            <a:srgbClr val="E0F2F1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916168" y="4818888"/>
            <a:ext cx="270662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LOGIC</a:t>
            </a:r>
            <a:endParaRPr lang="en-US" sz="900" dirty="0"/>
          </a:p>
        </p:txBody>
      </p:sp>
      <p:sp>
        <p:nvSpPr>
          <p:cNvPr id="71" name="Text 69"/>
          <p:cNvSpPr/>
          <p:nvPr/>
        </p:nvSpPr>
        <p:spPr>
          <a:xfrm>
            <a:off x="5971032" y="5111496"/>
            <a:ext cx="2633472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 traversal_time_seconds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(existing services keep their timetables until re-saved)</a:t>
            </a:r>
            <a:endParaRPr lang="en-US" sz="1100" dirty="0"/>
          </a:p>
        </p:txBody>
      </p:sp>
      <p:sp>
        <p:nvSpPr>
          <p:cNvPr id="72" name="Shape 70"/>
          <p:cNvSpPr/>
          <p:nvPr/>
        </p:nvSpPr>
        <p:spPr>
          <a:xfrm>
            <a:off x="8769096" y="5577840"/>
            <a:ext cx="155448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73" name="Shape 71"/>
          <p:cNvSpPr/>
          <p:nvPr/>
        </p:nvSpPr>
        <p:spPr>
          <a:xfrm>
            <a:off x="8961120" y="4782312"/>
            <a:ext cx="2880360" cy="1591056"/>
          </a:xfrm>
          <a:prstGeom prst="rect">
            <a:avLst/>
          </a:prstGeom>
          <a:solidFill>
            <a:srgbClr val="FFF6D6"/>
          </a:solidFill>
          <a:ln w="19050">
            <a:solidFill>
              <a:srgbClr val="CFA30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9070848" y="4818888"/>
            <a:ext cx="2660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7A5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TOUCHED</a:t>
            </a:r>
            <a:endParaRPr lang="en-US" sz="900" dirty="0"/>
          </a:p>
        </p:txBody>
      </p:sp>
      <p:sp>
        <p:nvSpPr>
          <p:cNvPr id="75" name="Text 73"/>
          <p:cNvSpPr/>
          <p:nvPr/>
        </p:nvSpPr>
        <p:spPr>
          <a:xfrm>
            <a:off x="9098280" y="5148072"/>
            <a:ext cx="260604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· Vehicle</a:t>
            </a:r>
            <a:endParaRPr lang="en-US" sz="1300" dirty="0"/>
          </a:p>
        </p:txBody>
      </p:sp>
      <p:sp>
        <p:nvSpPr>
          <p:cNvPr id="76" name="Text 7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1000" dirty="0"/>
          </a:p>
        </p:txBody>
      </p:sp>
      <p:sp>
        <p:nvSpPr>
          <p:cNvPr id="77" name="Text 7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Visual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Lifecycle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creation to a validated, persisted route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17320"/>
            <a:ext cx="109728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822960" y="1581912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58191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417320" y="1490472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 /api/services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417320" y="18288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with name + vehicle_id  →  empty route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051560" y="2148840"/>
            <a:ext cx="0" cy="1463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548640" y="2313432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313432"/>
            <a:ext cx="109728" cy="71323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22960" y="2478024"/>
            <a:ext cx="457200" cy="457200"/>
          </a:xfrm>
          <a:prstGeom prst="ellipse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47802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417320" y="2386584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PATCH  /api/services/{id}/route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417320" y="2724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stops, dwell times, start_time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051560" y="3044952"/>
            <a:ext cx="0" cy="1463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548640" y="3209544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" y="3209544"/>
            <a:ext cx="10972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2960" y="3374136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" y="337413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417320" y="3282696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connectivity   (BFS)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417320" y="3621024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 directed block graph between consecutive stops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1051560" y="3941064"/>
            <a:ext cx="0" cy="1463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548640" y="4105656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548640" y="4105656"/>
            <a:ext cx="10972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22960" y="4270248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22960" y="4270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1417320" y="4178808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timetable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1417320" y="4517136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/ departure per node from dwell + traversal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1051560" y="4837176"/>
            <a:ext cx="0" cy="146304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548640" y="5001768"/>
            <a:ext cx="502920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5001768"/>
            <a:ext cx="109728" cy="713232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22960" y="5166360"/>
            <a:ext cx="457200" cy="457200"/>
          </a:xfrm>
          <a:prstGeom prst="ellipse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22960" y="5166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1417320" y="507492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</a:t>
            </a:r>
            <a:endParaRPr lang="en-US" sz="1400" dirty="0"/>
          </a:p>
        </p:txBody>
      </p:sp>
      <p:sp>
        <p:nvSpPr>
          <p:cNvPr id="38" name="Text 36"/>
          <p:cNvSpPr/>
          <p:nvPr/>
        </p:nvSpPr>
        <p:spPr>
          <a:xfrm>
            <a:off x="1417320" y="5413248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Sweep against all other services in memory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1463040"/>
            <a:ext cx="5486400" cy="1920240"/>
          </a:xfrm>
          <a:prstGeom prst="rect">
            <a:avLst/>
          </a:prstGeom>
          <a:solidFill>
            <a:srgbClr val="FFFFFF"/>
          </a:solidFill>
          <a:ln w="25400">
            <a:solidFill>
              <a:srgbClr val="059669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6263640" y="1463040"/>
            <a:ext cx="5486400" cy="384048"/>
          </a:xfrm>
          <a:prstGeom prst="rect">
            <a:avLst/>
          </a:prstGeom>
          <a:solidFill>
            <a:srgbClr val="059669"/>
          </a:solidFill>
          <a:ln w="12700">
            <a:solidFill>
              <a:srgbClr val="05966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400800" y="148132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 OK    ·    Persist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6446520" y="196596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stored with route + timetable.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passed.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263640" y="3657600"/>
            <a:ext cx="5486400" cy="2468880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63640" y="3657600"/>
            <a:ext cx="5486400" cy="384048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400800" y="3675888"/>
            <a:ext cx="5212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409  Conflict</a:t>
            </a:r>
            <a:endParaRPr lang="en-US" sz="1400" dirty="0"/>
          </a:p>
        </p:txBody>
      </p:sp>
      <p:sp>
        <p:nvSpPr>
          <p:cNvPr id="46" name="Text 44"/>
          <p:cNvSpPr/>
          <p:nvPr/>
        </p:nvSpPr>
        <p:spPr>
          <a:xfrm>
            <a:off x="6446520" y="4114800"/>
            <a:ext cx="51206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with structured details: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vehicle overlap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vehicle discontinuity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block occupancy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interlocking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low battery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insufficient charge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was valid in isolation; conflict arose from current state.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5623560" y="5358384"/>
            <a:ext cx="411480" cy="0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6035040" y="2423160"/>
            <a:ext cx="0" cy="2935224"/>
          </a:xfrm>
          <a:prstGeom prst="line">
            <a:avLst/>
          </a:prstGeom>
          <a:noFill/>
          <a:ln w="15875">
            <a:solidFill>
              <a:srgbClr val="64748B"/>
            </a:solidFill>
            <a:prstDash val="dash"/>
          </a:ln>
        </p:spPr>
      </p:sp>
      <p:sp>
        <p:nvSpPr>
          <p:cNvPr id="49" name="Shape 47"/>
          <p:cNvSpPr/>
          <p:nvPr/>
        </p:nvSpPr>
        <p:spPr>
          <a:xfrm>
            <a:off x="6035040" y="2423160"/>
            <a:ext cx="228600" cy="0"/>
          </a:xfrm>
          <a:prstGeom prst="line">
            <a:avLst/>
          </a:prstGeom>
          <a:noFill/>
          <a:ln w="22225">
            <a:solidFill>
              <a:srgbClr val="059669"/>
            </a:solidFill>
            <a:prstDash val="solid"/>
            <a:tailEnd type="triangle"/>
          </a:ln>
        </p:spPr>
      </p:sp>
      <p:sp>
        <p:nvSpPr>
          <p:cNvPr id="50" name="Shape 48"/>
          <p:cNvSpPr/>
          <p:nvPr/>
        </p:nvSpPr>
        <p:spPr>
          <a:xfrm>
            <a:off x="6035040" y="4892040"/>
            <a:ext cx="228600" cy="0"/>
          </a:xfrm>
          <a:prstGeom prst="line">
            <a:avLst/>
          </a:prstGeom>
          <a:noFill/>
          <a:ln w="22225">
            <a:solidFill>
              <a:srgbClr val="DC2626"/>
            </a:solidFill>
            <a:prstDash val="solid"/>
            <a:tailEnd type="triangle"/>
          </a:ln>
        </p:spPr>
      </p:sp>
      <p:sp>
        <p:nvSpPr>
          <p:cNvPr id="51" name="Text 49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Visual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Building &amp; Timetable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pick stops; the system fills the rest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554480"/>
            <a:ext cx="91440" cy="22860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User Input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1488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stops =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P1A  (dwell 60s),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P2A  (dwell 45s),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start_time = T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389120" y="155448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389120" y="1554480"/>
            <a:ext cx="91440" cy="22860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1772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  BFS Inference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17720" y="21488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Walks the directed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adjacency graph,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shortest chain between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stops.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stop pairs have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exactly one valid path.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229600" y="1554480"/>
            <a:ext cx="352044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229600" y="1554480"/>
            <a:ext cx="91440" cy="22860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58200" y="169164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18F0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  Full Route + Timetable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58200" y="2148840"/>
            <a:ext cx="3154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P1A → B3 → B5 → P2A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Arrival/departure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computed per node from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+ traversal times.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087368" y="2697480"/>
            <a:ext cx="2834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7927848" y="2697480"/>
            <a:ext cx="283464" cy="0"/>
          </a:xfrm>
          <a:prstGeom prst="line">
            <a:avLst/>
          </a:prstGeom>
          <a:noFill/>
          <a:ln w="25400">
            <a:solidFill>
              <a:srgbClr val="64748B"/>
            </a:solidFill>
            <a:prstDash val="solid"/>
            <a:tailEnd type="triangle"/>
          </a:ln>
        </p:spPr>
      </p:sp>
      <p:sp>
        <p:nvSpPr>
          <p:cNvPr id="19" name="Text 17"/>
          <p:cNvSpPr/>
          <p:nvPr/>
        </p:nvSpPr>
        <p:spPr>
          <a:xfrm>
            <a:off x="548640" y="4069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 (example):  T = start_time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1463040" y="5989320"/>
            <a:ext cx="10058400" cy="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463040" y="594360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05840" y="6062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120640" y="594360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6062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T+60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949440" y="594360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6062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T+90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8778240" y="594360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321040" y="6062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T+120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11521440" y="5943600"/>
            <a:ext cx="0" cy="9144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064240" y="606247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T+165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48640" y="4434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P1A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1463040" y="4434840"/>
            <a:ext cx="36576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46304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60s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548640" y="475488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B3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120640" y="4754880"/>
            <a:ext cx="18288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120640" y="475488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8640" y="507492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B5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949440" y="5074920"/>
            <a:ext cx="1828800" cy="27432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949440" y="50749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30s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548640" y="53949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P2A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8778240" y="5394960"/>
            <a:ext cx="2743200" cy="27432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778240" y="53949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dwell 45s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Visual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 Detection — 6 Types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Returned in the 409 response when a route is saved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34340" y="169164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34340" y="1691640"/>
            <a:ext cx="361188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54380" y="2057400"/>
            <a:ext cx="868680" cy="8686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260" y="2240280"/>
            <a:ext cx="502920" cy="50292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76022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Overlap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438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vehicle in two services with overlapping time windows.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274820" y="169164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274820" y="1691640"/>
            <a:ext cx="361188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4594860" y="2057400"/>
            <a:ext cx="868680" cy="8686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740" y="2240280"/>
            <a:ext cx="502920" cy="50292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560070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Discontinuity</a:t>
            </a:r>
            <a:endParaRPr lang="en-US" sz="1600" dirty="0"/>
          </a:p>
        </p:txBody>
      </p:sp>
      <p:sp>
        <p:nvSpPr>
          <p:cNvPr id="16" name="Text 12"/>
          <p:cNvSpPr/>
          <p:nvPr/>
        </p:nvSpPr>
        <p:spPr>
          <a:xfrm>
            <a:off x="459486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Consecutive services on same vehicle don't connect spatially.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8115300" y="169164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8115300" y="1691640"/>
            <a:ext cx="361188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8435340" y="2057400"/>
            <a:ext cx="868680" cy="8686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8220" y="2240280"/>
            <a:ext cx="502920" cy="50292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441180" y="210312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Occupancy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8435340" y="30632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services occupy the same block at overlapping times.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43434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434340" y="4114800"/>
            <a:ext cx="361188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754380" y="4480560"/>
            <a:ext cx="868680" cy="8686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7260" y="4663440"/>
            <a:ext cx="502920" cy="50292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76022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Interlocking</a:t>
            </a:r>
            <a:endParaRPr lang="en-US" sz="1600" dirty="0"/>
          </a:p>
        </p:txBody>
      </p:sp>
      <p:sp>
        <p:nvSpPr>
          <p:cNvPr id="28" name="Text 22"/>
          <p:cNvSpPr/>
          <p:nvPr/>
        </p:nvSpPr>
        <p:spPr>
          <a:xfrm>
            <a:off x="754380" y="5486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Blocks in the same interlocking group occupied simultaneously.</a:t>
            </a:r>
            <a:endParaRPr lang="en-US" sz="1200" dirty="0"/>
          </a:p>
        </p:txBody>
      </p:sp>
      <p:sp>
        <p:nvSpPr>
          <p:cNvPr id="29" name="Shape 23"/>
          <p:cNvSpPr/>
          <p:nvPr/>
        </p:nvSpPr>
        <p:spPr>
          <a:xfrm>
            <a:off x="427482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4274820" y="4114800"/>
            <a:ext cx="361188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4594860" y="4480560"/>
            <a:ext cx="868680" cy="8686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77740" y="4663440"/>
            <a:ext cx="502920" cy="50292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560070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Battery</a:t>
            </a:r>
            <a:endParaRPr lang="en-US" sz="1600" dirty="0"/>
          </a:p>
        </p:txBody>
      </p:sp>
      <p:sp>
        <p:nvSpPr>
          <p:cNvPr id="34" name="Text 27"/>
          <p:cNvSpPr/>
          <p:nvPr/>
        </p:nvSpPr>
        <p:spPr>
          <a:xfrm>
            <a:off x="4594860" y="5486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drops below 30 outside the yard.</a:t>
            </a:r>
            <a:endParaRPr lang="en-US" sz="1200" dirty="0"/>
          </a:p>
        </p:txBody>
      </p:sp>
      <p:sp>
        <p:nvSpPr>
          <p:cNvPr id="35" name="Shape 28"/>
          <p:cNvSpPr/>
          <p:nvPr/>
        </p:nvSpPr>
        <p:spPr>
          <a:xfrm>
            <a:off x="8115300" y="41148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8115300" y="4114800"/>
            <a:ext cx="3611880" cy="10972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8435340" y="4480560"/>
            <a:ext cx="868680" cy="868680"/>
          </a:xfrm>
          <a:prstGeom prst="ellipse">
            <a:avLst/>
          </a:prstGeom>
          <a:solidFill>
            <a:srgbClr val="E0F2F1"/>
          </a:solidFill>
          <a:ln w="12700">
            <a:solidFill>
              <a:srgbClr val="E0F2F1"/>
            </a:solidFill>
            <a:prstDash val="solid"/>
          </a:ln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8220" y="4663440"/>
            <a:ext cx="502920" cy="50292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441180" y="4526280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Charge</a:t>
            </a:r>
            <a:endParaRPr lang="en-US" sz="1600" dirty="0"/>
          </a:p>
        </p:txBody>
      </p:sp>
      <p:sp>
        <p:nvSpPr>
          <p:cNvPr id="40" name="Text 32"/>
          <p:cNvSpPr/>
          <p:nvPr/>
        </p:nvSpPr>
        <p:spPr>
          <a:xfrm>
            <a:off x="8435340" y="548640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departs the yard with battery below 80.</a:t>
            </a:r>
            <a:endParaRPr lang="en-US" sz="1200" dirty="0"/>
          </a:p>
        </p:txBody>
      </p:sp>
      <p:sp>
        <p:nvSpPr>
          <p:cNvPr id="41" name="Text 33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Visual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Hexagonal Architecture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Ports &amp; adapters — dependencies always point inward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463040" y="1691640"/>
            <a:ext cx="9235440" cy="4251960"/>
          </a:xfrm>
          <a:prstGeom prst="rect">
            <a:avLst/>
          </a:prstGeom>
          <a:solidFill>
            <a:srgbClr val="FFFFFF"/>
          </a:solidFill>
          <a:ln w="1905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55448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api/    (inbound adapter)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0" y="17830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infra/    (outbound adapter)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377440" y="2331720"/>
            <a:ext cx="7406640" cy="2971800"/>
          </a:xfrm>
          <a:prstGeom prst="rect">
            <a:avLst/>
          </a:prstGeom>
          <a:solidFill>
            <a:srgbClr val="E0F2F1"/>
          </a:solidFill>
          <a:ln w="190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404872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application/    (use cases · workflow)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114800" y="3108960"/>
            <a:ext cx="3931920" cy="178308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114800" y="320040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domain/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114800" y="3611880"/>
            <a:ext cx="39319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Entities · Value Objects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 Interfaces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Services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4023360"/>
            <a:ext cx="219456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10332720" y="4023360"/>
            <a:ext cx="-2194560" cy="0"/>
          </a:xfrm>
          <a:prstGeom prst="line">
            <a:avLst/>
          </a:prstGeom>
          <a:noFill/>
          <a:ln w="31750">
            <a:solidFill>
              <a:srgbClr val="065A82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1463040" y="6080760"/>
            <a:ext cx="9235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in domain/ imports anything outside it. Enforced by import-linter at CI time.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Visual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 — Aggregates &amp; Entities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DDD building blocks and how they relate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15087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508760"/>
            <a:ext cx="4572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453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   (aggregate root)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20116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is_yard : bool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platforms[]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0" y="15087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508760"/>
            <a:ext cx="4572000" cy="457200"/>
          </a:xfrm>
          <a:prstGeom prst="rect">
            <a:avLst/>
          </a:prstGeom>
          <a:solidFill>
            <a:srgbClr val="1C7293"/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5453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  (entity)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93992" y="20116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532120" y="2171700"/>
            <a:ext cx="109728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14" name="Text 12"/>
          <p:cNvSpPr/>
          <p:nvPr/>
        </p:nvSpPr>
        <p:spPr>
          <a:xfrm>
            <a:off x="5623560" y="2007108"/>
            <a:ext cx="91440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*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60120" y="31089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60120" y="3108960"/>
            <a:ext cx="4572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31455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Vehicle   (aggregate root)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24712" y="36118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629400" y="31089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629400" y="3108960"/>
            <a:ext cx="4572000" cy="457200"/>
          </a:xfrm>
          <a:prstGeom prst="rect">
            <a:avLst/>
          </a:prstGeom>
          <a:solidFill>
            <a:srgbClr val="F18F01"/>
          </a:solidFill>
          <a:ln w="12700">
            <a:solidFill>
              <a:srgbClr val="F18F0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20840" y="31455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  (aggregate root)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793992" y="36118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name, vehicle_id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: Node[]   (ordered: Platform | Block | Yard)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 : TimetableEntry[]   (arr / dep per node)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532120" y="3771900"/>
            <a:ext cx="1097280" cy="0"/>
          </a:xfrm>
          <a:prstGeom prst="line">
            <a:avLst/>
          </a:prstGeom>
          <a:noFill/>
          <a:ln w="22225">
            <a:solidFill>
              <a:srgbClr val="1C7293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5623560" y="3607308"/>
            <a:ext cx="914400" cy="292608"/>
          </a:xfrm>
          <a:prstGeom prst="rect">
            <a:avLst/>
          </a:prstGeom>
          <a:solidFill>
            <a:srgbClr val="F8FAFC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  *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60120" y="47091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60120" y="4709160"/>
            <a:ext cx="4572000" cy="457200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51560" y="47457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  (aggregate root)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1124712" y="52120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id, name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  (interlocking)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traversal_time_seconds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629400" y="47091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629400" y="4709160"/>
            <a:ext cx="45720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20840" y="47457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NodeConnection   (shared kernel)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793992" y="52120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from_id  →  to_id     (directed graph edge)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BFS over this graph fills the route between stops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619963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Service.route and Service.timetable are stored as JSONB — loaded and saved as a whole.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Visual Reference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2004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Model — Value Objects &amp; Read Models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Immutable types embedded in aggregates, plus query-side projections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960120" y="15087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60120" y="1508760"/>
            <a:ext cx="45720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15453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  (value object)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24712" y="20116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 (UUID)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: NodeType   (BLOCK | PLATFORM | YARD)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629400" y="15087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629400" y="1508760"/>
            <a:ext cx="45720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20840" y="15453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TimetableEntry   (value object)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793992" y="20116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node_id (UUID)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arrival : EpochSeconds</a:t>
            </a:r>
            <a:endParaRPr lang="en-US" sz="11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: EpochSeconds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960120" y="3108960"/>
            <a:ext cx="4572000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60120" y="3108960"/>
            <a:ext cx="4572000" cy="4572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51560" y="3145536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LayoutData   (read model)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4712" y="3611880"/>
            <a:ext cx="4297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positions : dict[UUID, tuple[float, float]]</a:t>
            </a:r>
            <a:endParaRPr lang="en-US" sz="10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junction_blocks : dict[tuple[UUID, UUID], UUID]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1338560" y="649224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6492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VSS · Visual Reference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Vehicle Scheduling System — Visual Reference</dc:title>
  <dc:subject>PptxGenJS Presentation</dc:subject>
  <dc:creator>VSS</dc:creator>
  <cp:lastModifiedBy>VSS</cp:lastModifiedBy>
  <cp:revision>1</cp:revision>
  <dcterms:created xsi:type="dcterms:W3CDTF">2026-04-10T09:41:36Z</dcterms:created>
  <dcterms:modified xsi:type="dcterms:W3CDTF">2026-04-10T09:41:36Z</dcterms:modified>
</cp:coreProperties>
</file>